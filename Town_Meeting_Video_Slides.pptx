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5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101" y="0"/>
            <a:ext cx="1015898" cy="101589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109728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How Does Town Meeting Work?</a:t>
            </a:r>
            <a:br/>
            <a:r>
              <a:t>Two Big Decisions in Natick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92608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BBD5ED"/>
                </a:solidFill>
                <a:latin typeface="Calibri"/>
              </a:defRPr>
            </a:pPr>
            <a:r>
              <a:t>A Natick Public Schools Learning Video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101" y="0"/>
            <a:ext cx="1015898" cy="101589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11810" y="221284"/>
            <a:ext cx="7589520" cy="5724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B3A5C"/>
                </a:solidFill>
                <a:latin typeface="Calibri"/>
              </a:defRPr>
            </a:pPr>
            <a:r>
              <a:t>What Is Town Meeting?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1810" y="1005840"/>
            <a:ext cx="7772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920"/>
              </a:lnSpc>
              <a:spcAft>
                <a:spcPts val="400"/>
              </a:spcAft>
              <a:defRPr sz="1600">
                <a:solidFill>
                  <a:srgbClr val="1A1A1A"/>
                </a:solidFill>
                <a:latin typeface="Calibri"/>
              </a:defRPr>
            </a:pPr>
            <a:r>
              <a:t>In Massachusetts, many towns let residents vote on big decisions.</a:t>
            </a:r>
          </a:p>
          <a:p>
            <a:pPr>
              <a:lnSpc>
                <a:spcPts val="1920"/>
              </a:lnSpc>
              <a:spcAft>
                <a:spcPts val="400"/>
              </a:spcAft>
              <a:defRPr sz="1600">
                <a:solidFill>
                  <a:srgbClr val="1A1A1A"/>
                </a:solidFill>
                <a:latin typeface="Calibri"/>
              </a:defRPr>
            </a:pPr>
            <a:r>
              <a:t>Any resident can come to Town Meeting and vote — it is like a giant classroom vote for the whole town!</a:t>
            </a:r>
          </a:p>
          <a:p>
            <a:pPr>
              <a:lnSpc>
                <a:spcPts val="1920"/>
              </a:lnSpc>
              <a:spcAft>
                <a:spcPts val="400"/>
              </a:spcAft>
              <a:defRPr sz="1600">
                <a:solidFill>
                  <a:srgbClr val="1A1A1A"/>
                </a:solidFill>
                <a:latin typeface="Calibri"/>
              </a:defRPr>
            </a:pPr>
            <a:r>
              <a:t>Towns vote on how to spend money, what rules to make, and important local projects.</a:t>
            </a:r>
          </a:p>
          <a:p>
            <a:pPr>
              <a:lnSpc>
                <a:spcPts val="1920"/>
              </a:lnSpc>
              <a:spcAft>
                <a:spcPts val="400"/>
              </a:spcAft>
              <a:defRPr sz="1600">
                <a:solidFill>
                  <a:srgbClr val="1A1A1A"/>
                </a:solidFill>
                <a:latin typeface="Calibri"/>
              </a:defRPr>
            </a:pPr>
            <a:r>
              <a:t>Town Meeting happens at least once a year, usually in the spring or fall.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1810" y="41148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2E86AB"/>
                </a:solidFill>
                <a:latin typeface="Calibri"/>
              </a:defRPr>
            </a:pPr>
            <a:r>
              <a:t>Residents → Town Meeting → Vote → Decision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101" y="0"/>
            <a:ext cx="1015898" cy="101589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11810" y="221284"/>
            <a:ext cx="7589520" cy="5724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B3A5C"/>
                </a:solidFill>
                <a:latin typeface="Calibri"/>
              </a:defRPr>
            </a:pPr>
            <a:r>
              <a:t>The Town Moderator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1810" y="1005840"/>
            <a:ext cx="7772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920"/>
              </a:lnSpc>
              <a:spcAft>
                <a:spcPts val="400"/>
              </a:spcAft>
              <a:defRPr sz="1600">
                <a:solidFill>
                  <a:srgbClr val="1A1A1A"/>
                </a:solidFill>
                <a:latin typeface="Calibri"/>
              </a:defRPr>
            </a:pPr>
            <a:r>
              <a:t>The Town Moderator keeps Town Meeting fair and organized.</a:t>
            </a:r>
          </a:p>
          <a:p>
            <a:pPr>
              <a:lnSpc>
                <a:spcPts val="1920"/>
              </a:lnSpc>
              <a:spcAft>
                <a:spcPts val="400"/>
              </a:spcAft>
              <a:defRPr sz="1600">
                <a:solidFill>
                  <a:srgbClr val="1A1A1A"/>
                </a:solidFill>
                <a:latin typeface="Calibri"/>
              </a:defRPr>
            </a:pPr>
            <a:r>
              <a:t>In Natick, the Moderator is Jeff Alderson.</a:t>
            </a:r>
          </a:p>
          <a:p>
            <a:pPr>
              <a:lnSpc>
                <a:spcPts val="1920"/>
              </a:lnSpc>
              <a:spcAft>
                <a:spcPts val="400"/>
              </a:spcAft>
              <a:defRPr sz="1600">
                <a:solidFill>
                  <a:srgbClr val="1A1A1A"/>
                </a:solidFill>
                <a:latin typeface="Calibri"/>
              </a:defRPr>
            </a:pPr>
            <a:r>
              <a:t>His job is like a referee: he makes sure everyone follows the rules and gets a chance to speak.</a:t>
            </a:r>
          </a:p>
          <a:p>
            <a:pPr>
              <a:lnSpc>
                <a:spcPts val="1920"/>
              </a:lnSpc>
              <a:spcAft>
                <a:spcPts val="400"/>
              </a:spcAft>
              <a:defRPr sz="1600">
                <a:solidFill>
                  <a:srgbClr val="1A1A1A"/>
                </a:solidFill>
                <a:latin typeface="Calibri"/>
              </a:defRPr>
            </a:pPr>
            <a:r>
              <a:t>The Moderator explains each question and calls the vote at the end.</a:t>
            </a:r>
          </a:p>
          <a:p>
            <a:pPr>
              <a:lnSpc>
                <a:spcPts val="1920"/>
              </a:lnSpc>
              <a:spcAft>
                <a:spcPts val="400"/>
              </a:spcAft>
              <a:defRPr sz="1600">
                <a:solidFill>
                  <a:srgbClr val="1A1A1A"/>
                </a:solidFill>
                <a:latin typeface="Calibri"/>
              </a:defRPr>
            </a:pPr>
            <a:r>
              <a:t>He does not take sides — he stays neutral and fair.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1810" y="4206240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2E86AB"/>
                </a:solidFill>
                <a:latin typeface="Calibri"/>
              </a:defRPr>
            </a:pPr>
            <a:r>
              <a:t>Moderator Jeff Alderson — Natick Town Meeting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101" y="0"/>
            <a:ext cx="1015898" cy="101589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11810" y="221284"/>
            <a:ext cx="7589520" cy="5724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B3A5C"/>
                </a:solidFill>
                <a:latin typeface="Calibri"/>
              </a:defRPr>
            </a:pPr>
            <a:r>
              <a:t>Two Big Questions Before Town Meeting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1A1A1A"/>
                </a:solidFill>
                <a:latin typeface="Calibri"/>
              </a:defRPr>
            </a:pPr>
            <a:r>
              <a:t>Gas Leaf Blowers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37360"/>
            <a:ext cx="34747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Aft>
                <a:spcPts val="400"/>
              </a:spcAft>
              <a:defRPr sz="1500">
                <a:solidFill>
                  <a:srgbClr val="1A1A1A"/>
                </a:solidFill>
                <a:latin typeface="Calibri"/>
              </a:defRPr>
            </a:pPr>
            <a:r>
              <a:t>Should Natick phase out gas blowers?</a:t>
            </a:r>
          </a:p>
          <a:p>
            <a:pPr>
              <a:lnSpc>
                <a:spcPts val="1800"/>
              </a:lnSpc>
              <a:spcAft>
                <a:spcPts val="400"/>
              </a:spcAft>
              <a:defRPr sz="1500">
                <a:solidFill>
                  <a:srgbClr val="1A1A1A"/>
                </a:solidFill>
                <a:latin typeface="Calibri"/>
              </a:defRPr>
            </a:pPr>
            <a:r>
              <a:t>Article 32 — Fall 2024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37760" y="118872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1A1A1A"/>
                </a:solidFill>
                <a:latin typeface="Calibri"/>
              </a:defRPr>
            </a:pPr>
            <a:r>
              <a:t>Artificial Turf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37760" y="1737360"/>
            <a:ext cx="34747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Aft>
                <a:spcPts val="400"/>
              </a:spcAft>
              <a:defRPr sz="1500">
                <a:solidFill>
                  <a:srgbClr val="1A1A1A"/>
                </a:solidFill>
                <a:latin typeface="Calibri"/>
              </a:defRPr>
            </a:pPr>
            <a:r>
              <a:t>Should Natick pause new turf fields?</a:t>
            </a:r>
          </a:p>
          <a:p>
            <a:pPr>
              <a:lnSpc>
                <a:spcPts val="1800"/>
              </a:lnSpc>
              <a:spcAft>
                <a:spcPts val="400"/>
              </a:spcAft>
              <a:defRPr sz="1500">
                <a:solidFill>
                  <a:srgbClr val="1A1A1A"/>
                </a:solidFill>
                <a:latin typeface="Calibri"/>
              </a:defRPr>
            </a:pPr>
            <a:r>
              <a:t>Article 33 — Fall 2025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101" y="0"/>
            <a:ext cx="1015898" cy="101589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11810" y="221284"/>
            <a:ext cx="7589520" cy="5724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B3A5C"/>
                </a:solidFill>
                <a:latin typeface="Calibri"/>
              </a:defRPr>
            </a:pPr>
            <a:r>
              <a:t>Question 1: Gas Leaf Blowers</a:t>
            </a:r>
          </a:p>
        </p:txBody>
      </p:sp>
      <p:pic>
        <p:nvPicPr>
          <p:cNvPr id="4" name="Picture 3" descr="gas_leaf_blow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0" y="1097280"/>
            <a:ext cx="3840480" cy="28803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1810" y="1005840"/>
            <a:ext cx="45720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920"/>
              </a:lnSpc>
              <a:spcAft>
                <a:spcPts val="400"/>
              </a:spcAft>
              <a:defRPr sz="1600">
                <a:solidFill>
                  <a:srgbClr val="1A1A1A"/>
                </a:solidFill>
                <a:latin typeface="Calibri"/>
              </a:defRPr>
            </a:pPr>
            <a:r>
              <a:t>In 2024, a group called EcoNatick asked Town Meeting to phase out gas-powered leaf blowers.</a:t>
            </a:r>
          </a:p>
          <a:p>
            <a:pPr>
              <a:lnSpc>
                <a:spcPts val="1920"/>
              </a:lnSpc>
              <a:spcAft>
                <a:spcPts val="400"/>
              </a:spcAft>
              <a:defRPr sz="1600">
                <a:solidFill>
                  <a:srgbClr val="1A1A1A"/>
                </a:solidFill>
                <a:latin typeface="Calibri"/>
              </a:defRPr>
            </a:pPr>
            <a:r>
              <a:t>Their reasons: leaf blowers are loud, pollute the air, and can cause health problems like asthma.</a:t>
            </a:r>
          </a:p>
          <a:p>
            <a:pPr>
              <a:lnSpc>
                <a:spcPts val="1920"/>
              </a:lnSpc>
              <a:spcAft>
                <a:spcPts val="400"/>
              </a:spcAft>
              <a:defRPr sz="1600">
                <a:solidFill>
                  <a:srgbClr val="1A1A1A"/>
                </a:solidFill>
                <a:latin typeface="Calibri"/>
              </a:defRPr>
            </a:pPr>
            <a:r>
              <a:t>They wanted people to switch to quieter, electric blowers — or just use a rake!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101" y="0"/>
            <a:ext cx="1015898" cy="101589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11810" y="221284"/>
            <a:ext cx="7589520" cy="5724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B3A5C"/>
                </a:solidFill>
                <a:latin typeface="Calibri"/>
              </a:defRPr>
            </a:pPr>
            <a:r>
              <a:t>The Debate: Leaf Blowers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0584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1B3A5C"/>
                </a:solidFill>
                <a:latin typeface="Calibri"/>
              </a:defRPr>
            </a:pPr>
            <a:r>
              <a:t>FOR a Phase-Out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508760"/>
            <a:ext cx="36576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Aft>
                <a:spcPts val="400"/>
              </a:spcAft>
              <a:defRPr sz="1500">
                <a:solidFill>
                  <a:srgbClr val="1A1A1A"/>
                </a:solidFill>
                <a:latin typeface="Calibri"/>
              </a:defRPr>
            </a:pPr>
            <a:r>
              <a:t>Better for health — less air pollution</a:t>
            </a:r>
          </a:p>
          <a:p>
            <a:pPr>
              <a:lnSpc>
                <a:spcPts val="1800"/>
              </a:lnSpc>
              <a:spcAft>
                <a:spcPts val="400"/>
              </a:spcAft>
              <a:defRPr sz="1500">
                <a:solidFill>
                  <a:srgbClr val="1A1A1A"/>
                </a:solidFill>
                <a:latin typeface="Calibri"/>
              </a:defRPr>
            </a:pPr>
            <a:r>
              <a:t>Quieter neighborhoods</a:t>
            </a:r>
          </a:p>
          <a:p>
            <a:pPr>
              <a:lnSpc>
                <a:spcPts val="1800"/>
              </a:lnSpc>
              <a:spcAft>
                <a:spcPts val="400"/>
              </a:spcAft>
              <a:defRPr sz="1500">
                <a:solidFill>
                  <a:srgbClr val="1A1A1A"/>
                </a:solidFill>
                <a:latin typeface="Calibri"/>
              </a:defRPr>
            </a:pPr>
            <a:r>
              <a:t>Better for the environment</a:t>
            </a:r>
          </a:p>
          <a:p>
            <a:pPr>
              <a:lnSpc>
                <a:spcPts val="1800"/>
              </a:lnSpc>
              <a:spcAft>
                <a:spcPts val="400"/>
              </a:spcAft>
              <a:defRPr sz="1500">
                <a:solidFill>
                  <a:srgbClr val="1A1A1A"/>
                </a:solidFill>
                <a:latin typeface="Calibri"/>
              </a:defRPr>
            </a:pPr>
            <a:r>
              <a:t>Electric technology is improving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46320" y="100584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1B3A5C"/>
                </a:solidFill>
                <a:latin typeface="Calibri"/>
              </a:defRPr>
            </a:pPr>
            <a:r>
              <a:t>AGAINST a Phase-Out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46320" y="1508760"/>
            <a:ext cx="36576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Aft>
                <a:spcPts val="400"/>
              </a:spcAft>
              <a:defRPr sz="1500">
                <a:solidFill>
                  <a:srgbClr val="1A1A1A"/>
                </a:solidFill>
                <a:latin typeface="Calibri"/>
              </a:defRPr>
            </a:pPr>
            <a:r>
              <a:t>Battery blowers not powerful enough yet</a:t>
            </a:r>
          </a:p>
          <a:p>
            <a:pPr>
              <a:lnSpc>
                <a:spcPts val="1800"/>
              </a:lnSpc>
              <a:spcAft>
                <a:spcPts val="400"/>
              </a:spcAft>
              <a:defRPr sz="1500">
                <a:solidFill>
                  <a:srgbClr val="1A1A1A"/>
                </a:solidFill>
                <a:latin typeface="Calibri"/>
              </a:defRPr>
            </a:pPr>
            <a:r>
              <a:t>Too expensive for small landscaping businesses</a:t>
            </a:r>
          </a:p>
          <a:p>
            <a:pPr>
              <a:lnSpc>
                <a:spcPts val="1800"/>
              </a:lnSpc>
              <a:spcAft>
                <a:spcPts val="400"/>
              </a:spcAft>
              <a:defRPr sz="1500">
                <a:solidFill>
                  <a:srgbClr val="1A1A1A"/>
                </a:solidFill>
                <a:latin typeface="Calibri"/>
              </a:defRPr>
            </a:pPr>
            <a:r>
              <a:t>Some called it ‘government overreach’</a:t>
            </a:r>
          </a:p>
          <a:p>
            <a:pPr>
              <a:lnSpc>
                <a:spcPts val="1800"/>
              </a:lnSpc>
              <a:spcAft>
                <a:spcPts val="400"/>
              </a:spcAft>
              <a:defRPr sz="1500">
                <a:solidFill>
                  <a:srgbClr val="1A1A1A"/>
                </a:solidFill>
                <a:latin typeface="Calibri"/>
              </a:defRPr>
            </a:pPr>
            <a:r>
              <a:t>Need more time to switch over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101" y="0"/>
            <a:ext cx="1015898" cy="101589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11810" y="221284"/>
            <a:ext cx="7589520" cy="5724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B3A5C"/>
                </a:solidFill>
                <a:latin typeface="Calibri"/>
              </a:defRPr>
            </a:pPr>
            <a:r>
              <a:t>Outcome: Sent for Study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1280160"/>
            <a:ext cx="6400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1B3A5C"/>
                </a:solidFill>
                <a:latin typeface="Calibri"/>
              </a:defRPr>
            </a:pPr>
            <a:r>
              <a:t>79  —  27  — 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10312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1A1A1A"/>
                </a:solidFill>
                <a:latin typeface="Calibri"/>
              </a:defRPr>
            </a:pPr>
            <a:r>
              <a:t>Yes (refer)        No        Abstain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743200"/>
            <a:ext cx="7315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Aft>
                <a:spcPts val="400"/>
              </a:spcAft>
              <a:defRPr sz="1500">
                <a:solidFill>
                  <a:srgbClr val="1A1A1A"/>
                </a:solidFill>
                <a:latin typeface="Calibri"/>
              </a:defRPr>
            </a:pPr>
            <a:r>
              <a:t>Town Meeting voted to refer — send — the question to a committee for more study.</a:t>
            </a:r>
          </a:p>
          <a:p>
            <a:pPr>
              <a:lnSpc>
                <a:spcPts val="1800"/>
              </a:lnSpc>
              <a:spcAft>
                <a:spcPts val="400"/>
              </a:spcAft>
              <a:defRPr sz="1500">
                <a:solidFill>
                  <a:srgbClr val="1A1A1A"/>
                </a:solidFill>
                <a:latin typeface="Calibri"/>
              </a:defRPr>
            </a:pPr>
            <a:r>
              <a:t>The leaf blower rules were NOT decided yet.</a:t>
            </a:r>
          </a:p>
          <a:p>
            <a:pPr>
              <a:lnSpc>
                <a:spcPts val="1800"/>
              </a:lnSpc>
              <a:spcAft>
                <a:spcPts val="400"/>
              </a:spcAft>
              <a:defRPr sz="1500">
                <a:solidFill>
                  <a:srgbClr val="1A1A1A"/>
                </a:solidFill>
                <a:latin typeface="Calibri"/>
              </a:defRPr>
            </a:pPr>
            <a:r>
              <a:t>The Select Board, Board of Health, and the article sponsor will work together on next steps.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101" y="0"/>
            <a:ext cx="1015898" cy="101589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11810" y="221284"/>
            <a:ext cx="7589520" cy="5724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B3A5C"/>
                </a:solidFill>
                <a:latin typeface="Calibri"/>
              </a:defRPr>
            </a:pPr>
            <a:r>
              <a:t>Question 2: Artificial Turf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1810" y="1005840"/>
            <a:ext cx="7772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920"/>
              </a:lnSpc>
              <a:spcAft>
                <a:spcPts val="400"/>
              </a:spcAft>
              <a:defRPr sz="1600">
                <a:solidFill>
                  <a:srgbClr val="1A1A1A"/>
                </a:solidFill>
                <a:latin typeface="Calibri"/>
              </a:defRPr>
            </a:pPr>
            <a:r>
              <a:t>In 2025, residents asked for a three-year moratorium — a pause — on new artificial turf fields.</a:t>
            </a:r>
          </a:p>
          <a:p>
            <a:pPr>
              <a:lnSpc>
                <a:spcPts val="1920"/>
              </a:lnSpc>
              <a:spcAft>
                <a:spcPts val="400"/>
              </a:spcAft>
              <a:defRPr sz="1600">
                <a:solidFill>
                  <a:srgbClr val="1A1A1A"/>
                </a:solidFill>
                <a:latin typeface="Calibri"/>
              </a:defRPr>
            </a:pPr>
            <a:r>
              <a:t>Artificial turf is plastic grass used on sports fields like soccer and football.</a:t>
            </a:r>
          </a:p>
          <a:p>
            <a:pPr>
              <a:lnSpc>
                <a:spcPts val="1920"/>
              </a:lnSpc>
              <a:spcAft>
                <a:spcPts val="400"/>
              </a:spcAft>
              <a:defRPr sz="1600">
                <a:solidFill>
                  <a:srgbClr val="1A1A1A"/>
                </a:solidFill>
                <a:latin typeface="Calibri"/>
              </a:defRPr>
            </a:pPr>
            <a:r>
              <a:t>Supporters wanted time to study health and environmental risks before building more.</a:t>
            </a:r>
          </a:p>
          <a:p>
            <a:pPr>
              <a:lnSpc>
                <a:spcPts val="1920"/>
              </a:lnSpc>
              <a:spcAft>
                <a:spcPts val="400"/>
              </a:spcAft>
              <a:defRPr sz="1600">
                <a:solidFill>
                  <a:srgbClr val="1A1A1A"/>
                </a:solidFill>
                <a:latin typeface="Calibri"/>
              </a:defRPr>
            </a:pPr>
            <a:r>
              <a:t>[PLACEHOLDER: Insert photo of artificial turf field here]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101" y="0"/>
            <a:ext cx="1015898" cy="101589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11810" y="221284"/>
            <a:ext cx="7589520" cy="5724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B3A5C"/>
                </a:solidFill>
                <a:latin typeface="Calibri"/>
              </a:defRPr>
            </a:pPr>
            <a:r>
              <a:t>The Debate: Artificial Turf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0584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1B3A5C"/>
                </a:solidFill>
                <a:latin typeface="Calibri"/>
              </a:defRPr>
            </a:pPr>
            <a:r>
              <a:t>FOR the Moratorium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508760"/>
            <a:ext cx="36576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Aft>
                <a:spcPts val="400"/>
              </a:spcAft>
              <a:defRPr sz="1500">
                <a:solidFill>
                  <a:srgbClr val="1A1A1A"/>
                </a:solidFill>
                <a:latin typeface="Calibri"/>
              </a:defRPr>
            </a:pPr>
            <a:r>
              <a:t>Microplastics may be harmful to health</a:t>
            </a:r>
          </a:p>
          <a:p>
            <a:pPr>
              <a:lnSpc>
                <a:spcPts val="1800"/>
              </a:lnSpc>
              <a:spcAft>
                <a:spcPts val="400"/>
              </a:spcAft>
              <a:defRPr sz="1500">
                <a:solidFill>
                  <a:srgbClr val="1A1A1A"/>
                </a:solidFill>
                <a:latin typeface="Calibri"/>
              </a:defRPr>
            </a:pPr>
            <a:r>
              <a:t>PFAS ‘forever chemicals’ in turf</a:t>
            </a:r>
          </a:p>
          <a:p>
            <a:pPr>
              <a:lnSpc>
                <a:spcPts val="1800"/>
              </a:lnSpc>
              <a:spcAft>
                <a:spcPts val="400"/>
              </a:spcAft>
              <a:defRPr sz="1500">
                <a:solidFill>
                  <a:srgbClr val="1A1A1A"/>
                </a:solidFill>
                <a:latin typeface="Calibri"/>
              </a:defRPr>
            </a:pPr>
            <a:r>
              <a:t>Fields can get very hot in summer</a:t>
            </a:r>
          </a:p>
          <a:p>
            <a:pPr>
              <a:lnSpc>
                <a:spcPts val="1800"/>
              </a:lnSpc>
              <a:spcAft>
                <a:spcPts val="400"/>
              </a:spcAft>
              <a:defRPr sz="1500">
                <a:solidFill>
                  <a:srgbClr val="1A1A1A"/>
                </a:solidFill>
                <a:latin typeface="Calibri"/>
              </a:defRPr>
            </a:pPr>
            <a:r>
              <a:t>Artificial turf is hard to recycle or dispose of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46320" y="100584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1B3A5C"/>
                </a:solidFill>
                <a:latin typeface="Calibri"/>
              </a:defRPr>
            </a:pPr>
            <a:r>
              <a:t>AGAINST the Moratorium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46320" y="1508760"/>
            <a:ext cx="36576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Aft>
                <a:spcPts val="400"/>
              </a:spcAft>
              <a:defRPr sz="1500">
                <a:solidFill>
                  <a:srgbClr val="1A1A1A"/>
                </a:solidFill>
                <a:latin typeface="Calibri"/>
              </a:defRPr>
            </a:pPr>
            <a:r>
              <a:t>Not enough grass fields for kids to play</a:t>
            </a:r>
          </a:p>
          <a:p>
            <a:pPr>
              <a:lnSpc>
                <a:spcPts val="1800"/>
              </a:lnSpc>
              <a:spcAft>
                <a:spcPts val="400"/>
              </a:spcAft>
              <a:defRPr sz="1500">
                <a:solidFill>
                  <a:srgbClr val="1A1A1A"/>
                </a:solidFill>
                <a:latin typeface="Calibri"/>
              </a:defRPr>
            </a:pPr>
            <a:r>
              <a:t>Turf fields can be used more hours than grass</a:t>
            </a:r>
          </a:p>
          <a:p>
            <a:pPr>
              <a:lnSpc>
                <a:spcPts val="1800"/>
              </a:lnSpc>
              <a:spcAft>
                <a:spcPts val="400"/>
              </a:spcAft>
              <a:defRPr sz="1500">
                <a:solidFill>
                  <a:srgbClr val="1A1A1A"/>
                </a:solidFill>
                <a:latin typeface="Calibri"/>
              </a:defRPr>
            </a:pPr>
            <a:r>
              <a:t>A 3-year delay could push back important projects</a:t>
            </a:r>
          </a:p>
          <a:p>
            <a:pPr>
              <a:lnSpc>
                <a:spcPts val="1800"/>
              </a:lnSpc>
              <a:spcAft>
                <a:spcPts val="400"/>
              </a:spcAft>
              <a:defRPr sz="1500">
                <a:solidFill>
                  <a:srgbClr val="1A1A1A"/>
                </a:solidFill>
                <a:latin typeface="Calibri"/>
              </a:defRPr>
            </a:pPr>
            <a:r>
              <a:t>Some said health risks are not proven yet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101" y="0"/>
            <a:ext cx="1015898" cy="101589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11810" y="221284"/>
            <a:ext cx="7589520" cy="5724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B3A5C"/>
                </a:solidFill>
                <a:latin typeface="Calibri"/>
              </a:defRPr>
            </a:pPr>
            <a:r>
              <a:t>Outcome: Moratorium Passed!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1280160"/>
            <a:ext cx="6400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1B3A5C"/>
                </a:solidFill>
                <a:latin typeface="Calibri"/>
              </a:defRPr>
            </a:pPr>
            <a:r>
              <a:t>74  —  28  — 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10312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1A1A1A"/>
                </a:solidFill>
                <a:latin typeface="Calibri"/>
              </a:defRPr>
            </a:pPr>
            <a:r>
              <a:t>Yes (moratorium)        No        Abstain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743200"/>
            <a:ext cx="7315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Aft>
                <a:spcPts val="400"/>
              </a:spcAft>
              <a:defRPr sz="1500">
                <a:solidFill>
                  <a:srgbClr val="1A1A1A"/>
                </a:solidFill>
                <a:latin typeface="Calibri"/>
              </a:defRPr>
            </a:pPr>
            <a:r>
              <a:t>Town Meeting voted YES — the three-year moratorium was adopted!</a:t>
            </a:r>
          </a:p>
          <a:p>
            <a:pPr>
              <a:lnSpc>
                <a:spcPts val="1800"/>
              </a:lnSpc>
              <a:spcAft>
                <a:spcPts val="400"/>
              </a:spcAft>
              <a:defRPr sz="1500">
                <a:solidFill>
                  <a:srgbClr val="1A1A1A"/>
                </a:solidFill>
                <a:latin typeface="Calibri"/>
              </a:defRPr>
            </a:pPr>
            <a:r>
              <a:t>No new artificial turf fields will be built in Natick for three years.</a:t>
            </a:r>
          </a:p>
          <a:p>
            <a:pPr>
              <a:lnSpc>
                <a:spcPts val="1800"/>
              </a:lnSpc>
              <a:spcAft>
                <a:spcPts val="400"/>
              </a:spcAft>
              <a:defRPr sz="1500">
                <a:solidFill>
                  <a:srgbClr val="1A1A1A"/>
                </a:solidFill>
                <a:latin typeface="Calibri"/>
              </a:defRPr>
            </a:pPr>
            <a:r>
              <a:t>The town will use this time to study the issue and make a careful decision.</a:t>
            </a:r>
          </a:p>
          <a:p>
            <a:pPr>
              <a:lnSpc>
                <a:spcPts val="1800"/>
              </a:lnSpc>
              <a:spcAft>
                <a:spcPts val="400"/>
              </a:spcAft>
              <a:defRPr sz="1500">
                <a:solidFill>
                  <a:srgbClr val="1A1A1A"/>
                </a:solidFill>
                <a:latin typeface="Calibri"/>
              </a:defRPr>
            </a:pPr>
            <a:r>
              <a:t>Existing turf fields (like Cole Center and Memorial Field) are not affected.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101" y="0"/>
            <a:ext cx="1015898" cy="101589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11810" y="221284"/>
            <a:ext cx="7589520" cy="5724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B3A5C"/>
                </a:solidFill>
                <a:latin typeface="Calibri"/>
              </a:defRPr>
            </a:pPr>
            <a:r>
              <a:t>What Can We Learn?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7132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E86AB"/>
                </a:solidFill>
                <a:latin typeface="Calibri"/>
              </a:defRPr>
            </a:pPr>
            <a:r>
              <a:t>1. Anyone can speak 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7132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A1A1A"/>
                </a:solidFill>
                <a:latin typeface="Calibri"/>
              </a:defRPr>
            </a:pPr>
            <a:r>
              <a:t>In Town Meeting, any resident can bring an idea or share their opinion.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286000"/>
            <a:ext cx="7132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E86AB"/>
                </a:solidFill>
                <a:latin typeface="Calibri"/>
              </a:defRPr>
            </a:pPr>
            <a:r>
              <a:t>2. Debating helps us make better decisions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743200"/>
            <a:ext cx="7132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A1A1A"/>
                </a:solidFill>
                <a:latin typeface="Calibri"/>
              </a:defRPr>
            </a:pPr>
            <a:r>
              <a:t>Hearing different sides of an argument helps the whole town think carefully.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383280"/>
            <a:ext cx="7132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E86AB"/>
                </a:solidFill>
                <a:latin typeface="Calibri"/>
              </a:defRPr>
            </a:pPr>
            <a:r>
              <a:t>3. Every vote counts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840480"/>
            <a:ext cx="7132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A1A1A"/>
                </a:solidFill>
                <a:latin typeface="Calibri"/>
              </a:defRPr>
            </a:pPr>
            <a:r>
              <a:t>Everyone’s vote is equal. That’s democracy in action!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5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101" y="0"/>
            <a:ext cx="1015898" cy="101589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1097280"/>
            <a:ext cx="7680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Calibri"/>
              </a:defRPr>
            </a:pPr>
            <a:r>
              <a:t>Credits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103120"/>
            <a:ext cx="76809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BBD5ED"/>
                </a:solidFill>
                <a:latin typeface="Calibri"/>
              </a:defRPr>
            </a:pPr>
            <a:r>
              <a:t>Sources:</a:t>
            </a:r>
            <a:br/>
            <a:r>
              <a:t>Natick Report · EcoNatick · Town of Natick</a:t>
            </a:r>
            <a:br/>
            <a:r>
              <a:t>Telvue Recording of Fall 2025 Town Meeting</a:t>
            </a:r>
            <a:br/>
            <a:br/>
            <a:r>
              <a:t>Produced for Natick Public Schools</a:t>
            </a:r>
            <a:br/>
            <a:r>
              <a:t>© 2025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